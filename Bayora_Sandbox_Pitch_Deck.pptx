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Montserrat Bold" charset="1" panose="00000800000000000000"/>
      <p:regular r:id="rId17"/>
    </p:embeddedFont>
    <p:embeddedFont>
      <p:font typeface="IBM Plex Sans Bold" charset="1" panose="020B0803050203000203"/>
      <p:regular r:id="rId18"/>
    </p:embeddedFont>
    <p:embeddedFont>
      <p:font typeface="IBM Plex Sans" charset="1" panose="020B0503050203000203"/>
      <p:regular r:id="rId20"/>
    </p:embeddedFont>
    <p:embeddedFont>
      <p:font typeface="Caveat" charset="1" panose="000005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notesSlide" Target="notesSlides/notesSlide2.xml"/><Relationship Id="rId20" Type="http://schemas.openxmlformats.org/officeDocument/2006/relationships/font" Target="fonts/font20.fntdata"/><Relationship Id="rId21" Type="http://schemas.openxmlformats.org/officeDocument/2006/relationships/notesSlide" Target="notesSlides/notesSlide3.xml"/><Relationship Id="rId22" Type="http://schemas.openxmlformats.org/officeDocument/2006/relationships/notesSlide" Target="notesSlides/notesSlide4.xml"/><Relationship Id="rId23" Type="http://schemas.openxmlformats.org/officeDocument/2006/relationships/notesSlide" Target="notesSlides/notesSlide5.xml"/><Relationship Id="rId24" Type="http://schemas.openxmlformats.org/officeDocument/2006/relationships/notesSlide" Target="notesSlides/notesSlide6.xml"/><Relationship Id="rId25" Type="http://schemas.openxmlformats.org/officeDocument/2006/relationships/notesSlide" Target="notesSlides/notesSlide7.xml"/><Relationship Id="rId26" Type="http://schemas.openxmlformats.org/officeDocument/2006/relationships/notesSlide" Target="notesSlides/notesSlide8.xml"/><Relationship Id="rId27" Type="http://schemas.openxmlformats.org/officeDocument/2006/relationships/font" Target="fonts/font27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svg"/><Relationship Id="rId5" Type="http://schemas.openxmlformats.org/officeDocument/2006/relationships/image" Target="../media/image7.png"/><Relationship Id="rId6" Type="http://schemas.openxmlformats.org/officeDocument/2006/relationships/image" Target="../media/image8.svg"/><Relationship Id="rId7" Type="http://schemas.openxmlformats.org/officeDocument/2006/relationships/image" Target="../media/image1.jpe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4" id="4"/>
          <p:cNvGrpSpPr/>
          <p:nvPr/>
        </p:nvGrpSpPr>
        <p:grpSpPr>
          <a:xfrm rot="-5400000">
            <a:off x="7123100" y="-7111203"/>
            <a:ext cx="4088378" cy="18326624"/>
            <a:chOff x="0" y="0"/>
            <a:chExt cx="5451170" cy="244354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51221" cy="24435563"/>
            </a:xfrm>
            <a:custGeom>
              <a:avLst/>
              <a:gdLst/>
              <a:ahLst/>
              <a:cxnLst/>
              <a:rect r="r" b="b" t="t" l="l"/>
              <a:pathLst>
                <a:path h="24435563" w="5451221">
                  <a:moveTo>
                    <a:pt x="0" y="0"/>
                  </a:moveTo>
                  <a:lnTo>
                    <a:pt x="5451221" y="0"/>
                  </a:lnTo>
                  <a:lnTo>
                    <a:pt x="5451221" y="24435563"/>
                  </a:lnTo>
                  <a:lnTo>
                    <a:pt x="0" y="2443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7248" t="0" r="-36879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8678" y="296228"/>
            <a:ext cx="7240343" cy="791928"/>
            <a:chOff x="0" y="0"/>
            <a:chExt cx="9653791" cy="10559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653778" cy="1055878"/>
            </a:xfrm>
            <a:custGeom>
              <a:avLst/>
              <a:gdLst/>
              <a:ahLst/>
              <a:cxnLst/>
              <a:rect r="r" b="b" t="t" l="l"/>
              <a:pathLst>
                <a:path h="1055878" w="9653778">
                  <a:moveTo>
                    <a:pt x="0" y="0"/>
                  </a:moveTo>
                  <a:lnTo>
                    <a:pt x="9653778" y="0"/>
                  </a:lnTo>
                  <a:lnTo>
                    <a:pt x="9653778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-2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520574" y="296228"/>
            <a:ext cx="5599605" cy="791928"/>
            <a:chOff x="0" y="0"/>
            <a:chExt cx="7466140" cy="1055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466076" cy="1055878"/>
            </a:xfrm>
            <a:custGeom>
              <a:avLst/>
              <a:gdLst/>
              <a:ahLst/>
              <a:cxnLst/>
              <a:rect r="r" b="b" t="t" l="l"/>
              <a:pathLst>
                <a:path h="1055878" w="7466076">
                  <a:moveTo>
                    <a:pt x="0" y="0"/>
                  </a:moveTo>
                  <a:lnTo>
                    <a:pt x="7466076" y="0"/>
                  </a:lnTo>
                  <a:lnTo>
                    <a:pt x="7466076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" b="-2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731520" y="1645920"/>
            <a:ext cx="6217920" cy="74980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2563EB"/>
                </a:solidFill>
                <a:latin typeface="IBM Plex Sans"/>
              </a:defRPr>
            </a:pPr>
            <a:r>
              <a:t>🛡️ ZERO-TRUST AI INFRASTRUCTURE</a:t>
            </a:r>
          </a:p>
          <a:p>
            <a:pPr>
              <a:spcAft>
                <a:spcPts val="1400"/>
              </a:spcAft>
              <a:defRPr sz="4400" b="1">
                <a:solidFill>
                  <a:srgbClr val="0F172A"/>
                </a:solidFill>
                <a:latin typeface="Montserrat"/>
              </a:defRPr>
            </a:pPr>
            <a:r>
              <a:t>BAYORA</a:t>
            </a:r>
            <a:br/>
            <a:r>
              <a:t>SANDBOX</a:t>
            </a:r>
          </a:p>
          <a:p>
            <a:pPr>
              <a:spcAft>
                <a:spcPts val="1600"/>
              </a:spcAft>
              <a:defRPr sz="1800" b="1">
                <a:solidFill>
                  <a:srgbClr val="0284C7"/>
                </a:solidFill>
                <a:latin typeface="IBM Plex Sans"/>
              </a:defRPr>
            </a:pPr>
            <a:r>
              <a:t>Secure Adversarial AI Safety Testing Infrastructure</a:t>
            </a:r>
          </a:p>
          <a:p>
            <a:pPr>
              <a:spcAft>
                <a:spcPts val="1800"/>
              </a:spcAft>
              <a:defRPr sz="1300">
                <a:solidFill>
                  <a:srgbClr val="334155"/>
                </a:solidFill>
                <a:latin typeface="IBM Plex Sans"/>
              </a:defRPr>
            </a:pPr>
            <a:r>
              <a:t>A cryptographically observable, multi-tenant isolated execution sandbox for evaluating adversarial attacks against language models with provable containment and zero cross-tenant contamination.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IBM Plex Sans"/>
              </a:defRPr>
            </a:pPr>
            <a:r>
              <a:t>🔒 Multi-tier network isolation &amp; Linux seccomp syscall drops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IBM Plex Sans"/>
              </a:defRPr>
            </a:pPr>
            <a:r>
              <a:t>⛓️ Pre-response append-only SHA-256 hash-chain audit log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IBM Plex Sans"/>
              </a:defRPr>
            </a:pPr>
            <a:r>
              <a:t>⚔️ Automated AdvBench / JailbreakBench adversarial harness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IBM Plex Sans"/>
              </a:defRPr>
            </a:pPr>
            <a:r>
              <a:t>✅ 22/22 unified automated unit and integration tests passing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0" y="1645920"/>
            <a:ext cx="6217920" cy="7498079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spcAft>
                <a:spcPts val="400"/>
              </a:spcAft>
              <a:defRPr sz="2000" b="1">
                <a:solidFill>
                  <a:srgbClr val="0F172A"/>
                </a:solidFill>
                <a:latin typeface="Montserrat"/>
              </a:defRPr>
            </a:pPr>
            <a:r>
              <a:t>TEAM &amp; PROJECT PROFILE</a:t>
            </a:r>
          </a:p>
          <a:p>
            <a:pPr>
              <a:spcAft>
                <a:spcPts val="1600"/>
              </a:spcAft>
              <a:defRPr sz="1300" b="1">
                <a:solidFill>
                  <a:srgbClr val="2563EB"/>
                </a:solidFill>
                <a:latin typeface="IBM Plex Sans"/>
              </a:defRPr>
            </a:pPr>
            <a:r>
              <a:t>Hackathon Track: AI Safety, Security &amp; Governance</a:t>
            </a:r>
          </a:p>
          <a:p>
            <a:pPr>
              <a:defRPr sz="1200" b="1">
                <a:solidFill>
                  <a:srgbClr val="0F172A"/>
                </a:solidFill>
                <a:latin typeface="IBM Plex Sans"/>
              </a:defRPr>
            </a:pPr>
            <a:r>
              <a:t>• Team Name: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  Bayora AI Security Team</a:t>
            </a:r>
          </a:p>
          <a:p>
            <a:pPr>
              <a:defRPr sz="1200" b="1">
                <a:solidFill>
                  <a:srgbClr val="0F172A"/>
                </a:solidFill>
                <a:latin typeface="IBM Plex Sans"/>
              </a:defRPr>
            </a:pPr>
            <a:r>
              <a:t>• AI Security &amp; Red-Team Lead: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  Adversarial payload curation (AdvBench/Jailbreak), IOC detection, &amp; evaluation harness.</a:t>
            </a:r>
          </a:p>
          <a:p>
            <a:pPr>
              <a:defRPr sz="1200" b="1">
                <a:solidFill>
                  <a:srgbClr val="0F172A"/>
                </a:solidFill>
                <a:latin typeface="IBM Plex Sans"/>
              </a:defRPr>
            </a:pPr>
            <a:r>
              <a:t>• Systems &amp; Isolation Architect: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  Multi-bridge Docker namespaces, Linux seccomp profiles, &amp; cgroup quotas.</a:t>
            </a:r>
          </a:p>
          <a:p>
            <a:pPr>
              <a:defRPr sz="1200" b="1">
                <a:solidFill>
                  <a:srgbClr val="0F172A"/>
                </a:solidFill>
                <a:latin typeface="IBM Plex Sans"/>
              </a:defRPr>
            </a:pPr>
            <a:r>
              <a:t>• Cryptographic Audit Engineer: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  Append-only SHA-256 hash-chain, canonical JSON, atomic file locks, &amp; CLI verifier.</a:t>
            </a:r>
          </a:p>
          <a:p>
            <a:pPr>
              <a:defRPr sz="1200" b="1">
                <a:solidFill>
                  <a:srgbClr val="0F172A"/>
                </a:solidFill>
                <a:latin typeface="IBM Plex Sans"/>
              </a:defRPr>
            </a:pPr>
            <a:r>
              <a:t>• Full-Stack &amp; QA Engineer:</a:t>
            </a:r>
          </a:p>
          <a:p>
            <a:pPr>
              <a:spcAft>
                <a:spcPts val="8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  FastAPI chokepoint gateway, token auth, &amp; 22-test automated test suite.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371600"/>
            <a:ext cx="16459200" cy="67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defRPr sz="3000" b="1">
                <a:solidFill>
                  <a:srgbClr val="0F172A"/>
                </a:solidFill>
                <a:latin typeface="Montserrat"/>
              </a:defRPr>
            </a:pPr>
            <a:r>
              <a:t>PROBLEM STATEMENT &amp; THEME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IBM Plex Sans"/>
              </a:defRPr>
            </a:pPr>
            <a:r>
              <a:t>Why Traditional AI Safety Evaluation Fails: The Dilemma of Uncontained Red-Teaming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id="7" name="Rounded Rectangle 6"/>
          <p:cNvSpPr/>
          <p:nvPr/>
        </p:nvSpPr>
        <p:spPr>
          <a:xfrm>
            <a:off x="91440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E11D48"/>
                </a:solidFill>
                <a:latin typeface="IBM Plex Sans"/>
              </a:defRPr>
            </a:pPr>
            <a:r>
              <a:t>⚠️ THE CORE PROBLEM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Adversarial AI Friction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Untrusted Workloads Under Test: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Evaluating prompt injections, jailbreaks, and zero-day adversarial attacks requires executing untrusted, potentially hostile payloads.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Information Bleeding: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Red-team attack vectors often leak to the blue team before tests conclude, biasing defensive rules and over-fitting guardrails.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Defense Heuristic Inversion: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Probing red-team tools can reverse-engineer blue-team defensive heuristics when running on shared networks.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Lack of Chokepoint: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Without strict architectural chokepoints, teams bypass evaluation protocols, yielding unverified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💥 SYSTEMIC IMPACT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The Cost of Contamination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Cross-Session State Bleeding: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Shared model execution environments risk state contamination between sequential evaluation sessions, invalidating black-box tests.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Audit Repudiation &amp; Doctoring: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Ad-hoc logging allows teams or adversaries to doctor test records without cryptographic proof of authenticity.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False Sense of Security: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Un-isolated benchmarks give models false safety clearance, resulting in catastrophic production breaches.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Regulatory Non-Compliance: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Violates verifiable audit and robustness requirements under NIST AI RMF 1.0, EU AI Act Art. 15, and OWASP LLM Top 10.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25296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IBM Plex Sans"/>
              </a:defRPr>
            </a:pPr>
            <a:r>
              <a:t>🎯 THEME ALIGNMENT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Zero-Trust AI Governance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Hackathon Track Alignment: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Directly targets the core challenge of AI Safety, Security &amp; Governance Infrastructure.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Shift from Faith to Cryptography: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Replaces 'honor-system' safety evaluations with mathematically provable, tamper-evident cryptographic logs.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Dual-Blind Evaluation: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Guarantees dual-blind isolation: Red teams and blue teams operate concurrently with zero environmental interference.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Commodity Cloud Ready: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Enforces physical-like isolation on standard Linux cloud VMs with zero proprietary hardware requirements.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371600"/>
            <a:ext cx="16459200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defRPr sz="3000" b="1">
                <a:solidFill>
                  <a:srgbClr val="0F172A"/>
                </a:solidFill>
                <a:latin typeface="Montserrat"/>
              </a:defRPr>
            </a:pPr>
            <a:r>
              <a:t>THE BAYORA SANDBOX SOLUTION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IBM Plex Sans"/>
              </a:defRPr>
            </a:pPr>
            <a:r>
              <a:t>A Hardened, Zero-Trust Execution Fabric for Adversarial AI Evaluation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91440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IBM Plex Sans"/>
              </a:defRPr>
            </a:pPr>
            <a:r>
              <a:t>🛡️ PILLAR 1: ISOLATION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Multi-Tenant Zero-Trust Topology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Strict Network Partitioning: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Dedicated bridge networks ('redteam-net', 'blueteam-net') with zero route between opposing tenant containers.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Air-Gapped LLM Runtime: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Target model ('client-llm') sits on an internal-only network (172.28.30.0/24) with zero WAN access.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Linux Seccomp Syscall Drops: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Drops 'ptrace', 'bpf', 'mount', 'unshare', and system modifications, preventing sandbox breakout.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Rootless Containers &amp; Cgroups: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Non-root UID 10001:10001, cap_drop: [ALL], read-only root filesystems, and strict CPU/memory limits.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🔐 PILLAR 2: GATEWAY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Single Chokepoint &amp; Token Auth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Sole Multi-Homed Bridge: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'llm-gateway' is the only service connected to all three networks, mediating all ingress and egress.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Cryptographic Tenant Auth: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Enforces tenant authentication via 'X-Tenant-Key' or 'Authorization: Bearer &lt;key&gt;' headers.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Cross-Tenant Anti-Spoofing: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Instantly rejects and logs cross-tenant credential mismatches (e.g., Red-Team key claiming Blue-Team identity).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Safe Telemetry &amp; Anomaly Alerts: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Exposes '/metrics' with sliding-window burst detection while guaranteeing zero prompt payload leakage.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5296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  <a:latin typeface="IBM Plex Sans"/>
              </a:defRPr>
            </a:pPr>
            <a:r>
              <a:t>⛓️ PILLAR 3: AUDITABILITY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Cryptographic SHA-256 Hash Chain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Pre-Response Commitment: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Every prompt, completion, and latency metric is hashed and committed before returning the HTTP 200 response.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Genesis Invariant (0*64):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Block #0 must start with 64 zero bytes; each subsequent block hashes previous hash + canonical JSON payload.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Atomic Thread-Safe Locking: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High-throughput file write locking validated under 50-thread concurrent stress testing.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Independent Verifier CLI: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Standalone 'audit/verify.py' verifies chain integrity in O(N) and pinpoints exact mutated block index.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371600"/>
            <a:ext cx="16459200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defRPr sz="3000" b="1">
                <a:solidFill>
                  <a:srgbClr val="0F172A"/>
                </a:solidFill>
                <a:latin typeface="Montserrat"/>
              </a:defRPr>
            </a:pPr>
            <a:r>
              <a:t>SYSTEM ARCHITECTURE &amp; DATA FLOW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IBM Plex Sans"/>
              </a:defRPr>
            </a:pPr>
            <a:r>
              <a:t>Zero-Trust Multi-Network Chokepoint Model &amp; Synchronous Cryptographic Pipeline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914400" y="2468880"/>
            <a:ext cx="859536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IBM Plex Sans"/>
              </a:defRPr>
            </a:pPr>
            <a:r>
              <a:t>🌐 NETWORK TOPOLOGY &amp; PACKET FLOW</a:t>
            </a:r>
          </a:p>
          <a:p>
            <a:pPr>
              <a:spcAft>
                <a:spcPts val="10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The Multi-Tier Chokepoint Pipeline</a:t>
            </a:r>
          </a:p>
          <a:p>
            <a:pPr>
              <a:spcAft>
                <a:spcPts val="1200"/>
              </a:spcAft>
              <a:defRPr sz="950">
                <a:solidFill>
                  <a:srgbClr val="1E293B"/>
                </a:solidFill>
                <a:latin typeface="Consolas"/>
              </a:defRPr>
            </a:pPr>
            <a:r>
              <a:t>  [ bayora-redteam ] (172.28.10.0/24)  [ bayora-blueteam ] (172.28.20.0/24)</a:t>
            </a:r>
            <a:br/>
            <a:r>
              <a:t>           │                                    │</a:t>
            </a:r>
            <a:br/>
            <a:r>
              <a:t>           └──────────────► ┌────────────────┐ ◄┘</a:t>
            </a:r>
            <a:br/>
            <a:r>
              <a:t>                            │  llm-gateway   │ (FastAPI / Port 8000)</a:t>
            </a:r>
            <a:br/>
            <a:r>
              <a:t>                            └───────┬────────┘</a:t>
            </a:r>
            <a:br/>
            <a:r>
              <a:t>                                    │ client-net (172.28.30.0/24)</a:t>
            </a:r>
            <a:br/>
            <a:r>
              <a:t>                                    ▼ (internal: true - Zero WAN)</a:t>
            </a:r>
            <a:br/>
            <a:r>
              <a:t>                            ┌────────────────┐   ┌────────────────┐</a:t>
            </a:r>
            <a:br/>
            <a:r>
              <a:t>                            │   client-llm   │◄──┤  audit/chain   │</a:t>
            </a:r>
            <a:br/>
            <a:r>
              <a:t>                            │ (Ollama / Qwen)│   │ (SHA-256 Log)  │</a:t>
            </a:r>
            <a:br/>
            <a:r>
              <a:t>                            └────────────────┘   └────────────────┘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• 1. Authenticated Ingress: Worker container sends prompt with 'X-Tenant-Key' and 'X-Source-Tenant' to Gateway.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• 2. Identity &amp; Spoof Check: Gateway verifies tenant signature; blocks forged identity headers with HTTP 403.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• 3. Air-Gapped Proxying: Gateway proxies sanitized payload across 'client-net' to Ollama ('qwen2.5-coder:3b').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• 4. Pre-Response Hash Commit: Gateway atomically computes SHA-256 block hash &amp; commits to 'audit/log.jsonl'.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• 5. Verified Egress: Gateway returns HTTP response to caller only after block persistence is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0" y="2468880"/>
            <a:ext cx="731520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⚙️ PRODUCTION STACK &amp; INTERFACES</a:t>
            </a:r>
          </a:p>
          <a:p>
            <a:pPr>
              <a:spcAft>
                <a:spcPts val="12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Microservices, Isolation &amp; APIs</a:t>
            </a:r>
          </a:p>
          <a:p>
            <a:pPr>
              <a:defRPr sz="1150" b="1">
                <a:solidFill>
                  <a:srgbClr val="2563EB"/>
                </a:solidFill>
                <a:latin typeface="IBM Plex Sans"/>
              </a:defRPr>
            </a:pPr>
            <a:r>
              <a:t>▶ Inference Runtime:</a:t>
            </a:r>
          </a:p>
          <a:p>
            <a:pPr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Ollama Model Engine: Serves 'qwen2.5-coder:3b-instruct' (swap-in capable).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Air-Gapped Isolation: Attached strictly to client-net with zero WAN access.</a:t>
            </a:r>
          </a:p>
          <a:p>
            <a:pPr>
              <a:defRPr sz="1150" b="1">
                <a:solidFill>
                  <a:srgbClr val="2563EB"/>
                </a:solidFill>
                <a:latin typeface="IBM Plex Sans"/>
              </a:defRPr>
            </a:pPr>
            <a:r>
              <a:t>▶ Gateway &amp; Security Layer:</a:t>
            </a:r>
          </a:p>
          <a:p>
            <a:pPr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FastAPI &amp; Uvicorn: High-throughput asynchronous ASGI microservice.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Cryptographic Auth: Token verification via 'X-Tenant-Key' or 'Bearer' tokens.</a:t>
            </a:r>
          </a:p>
          <a:p>
            <a:pPr>
              <a:defRPr sz="1150" b="1">
                <a:solidFill>
                  <a:srgbClr val="2563EB"/>
                </a:solidFill>
                <a:latin typeface="IBM Plex Sans"/>
              </a:defRPr>
            </a:pPr>
            <a:r>
              <a:t>▶ Containment &amp; OS Hardening:</a:t>
            </a:r>
          </a:p>
          <a:p>
            <a:pPr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Linux Seccomp: Filters syscalls: blocks ptrace, bpf, mount, unshare.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Cgroups &amp; Rootless: 1.0 CPU, 512MB RAM quotas; runs under UID 10001.</a:t>
            </a:r>
          </a:p>
          <a:p>
            <a:pPr>
              <a:defRPr sz="1150" b="1">
                <a:solidFill>
                  <a:srgbClr val="2563EB"/>
                </a:solidFill>
                <a:latin typeface="IBM Plex Sans"/>
              </a:defRPr>
            </a:pPr>
            <a:r>
              <a:t>▶ Cryptographic Audit Engine:</a:t>
            </a:r>
          </a:p>
          <a:p>
            <a:pPr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SHA-256 Hash Chain: stdlib hashlib + canonical JSON serialization.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Atomic Locking: Thread-safe concurrent write protection under high load.</a:t>
            </a:r>
          </a:p>
          <a:p>
            <a:pPr>
              <a:defRPr sz="1150" b="1">
                <a:solidFill>
                  <a:srgbClr val="2563EB"/>
                </a:solidFill>
                <a:latin typeface="IBM Plex Sans"/>
              </a:defRPr>
            </a:pPr>
            <a:r>
              <a:t>▶ Exposed API Surface:</a:t>
            </a:r>
          </a:p>
          <a:p>
            <a:pPr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POST /prompt: Authenticated, tenant-isolated prompt routing.</a:t>
            </a:r>
          </a:p>
          <a:p>
            <a:pPr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GET /health: Microservice readiness &amp; upstream model health probe.</a:t>
            </a:r>
          </a:p>
          <a:p>
            <a:pPr>
              <a:spcAft>
                <a:spcPts val="6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• GET /metrics: Zero-leak telemetry &amp; sliding-window anomaly alert trigger.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371600"/>
            <a:ext cx="16459200" cy="673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defRPr sz="3000" b="1">
                <a:solidFill>
                  <a:srgbClr val="0F172A"/>
                </a:solidFill>
                <a:latin typeface="Montserrat"/>
              </a:defRPr>
            </a:pPr>
            <a:r>
              <a:t>MARKET RESEARCH &amp; BUSINESS ANALYSIS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IBM Plex Sans"/>
              </a:defRPr>
            </a:pPr>
            <a:r>
              <a:t>Commercial Viability, Market Sizing, Revenue Models, and Defensible Growth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914400" y="2468880"/>
            <a:ext cx="7955279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200"/>
              </a:spcAft>
              <a:defRPr sz="1050" b="1">
                <a:solidFill>
                  <a:srgbClr val="0F172A"/>
                </a:solidFill>
                <a:latin typeface="IBM Plex Sans"/>
              </a:defRPr>
            </a:pPr>
            <a:r>
              <a:t>🎯 TARGET CUSTOMERS &amp; PERSONAS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ontserrat"/>
              </a:defRPr>
            </a:pPr>
            <a:r>
              <a:t>Who Needs Bayora Sandbox?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AI Frontier Labs &amp; Model Developers: Pre-deployment safety benchmarking, red-teaming harnesses, and RLHF alignment verification.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Enterprise SecOps &amp; AI Governance: Teams deploying autonomous customer-facing agents requiring strict sandbox containment.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Third-Party AI Audit Consultancies: Independent auditors needing cryptographically unassailable non-repudiation logs.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Defense &amp; Intelligence Agencies: Verifying classified AI model isolation without data leakage.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418320" y="2468880"/>
            <a:ext cx="7955279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200"/>
              </a:spcAft>
              <a:defRPr sz="1050" b="1">
                <a:solidFill>
                  <a:srgbClr val="2563EB"/>
                </a:solidFill>
                <a:latin typeface="IBM Plex Sans"/>
              </a:defRPr>
            </a:pPr>
            <a:r>
              <a:t>📈 MARKET OPPORTUNITY (TAM / SAM)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ontserrat"/>
              </a:defRPr>
            </a:pPr>
            <a:r>
              <a:t>Explosive Regulatory Tailwinds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Total Addressable Market (TAM): Global AI Governance &amp; Security market valued at $3.2B in 2024, scaling to $14.5B+ by 2030 (35.2% CAGR).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Regulatory Mandates: Mandatory red-teaming and audit trails enforced by EU AI Act (Art. 15), NIST AI RMF 1.0, and ISO 42001.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High Cost of Breaches: Enterprise prompt injection breaches average $4.8M in remediation, data leakage, and reputational loss.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Shift to Agentic AI: Autonomous agents executing real code make containerized sandboxes a strict operational requirement.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6217920"/>
            <a:ext cx="7955279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200"/>
              </a:spcAft>
              <a:defRPr sz="1050" b="1">
                <a:solidFill>
                  <a:srgbClr val="10B981"/>
                </a:solidFill>
                <a:latin typeface="IBM Plex Sans"/>
              </a:defRPr>
            </a:pPr>
            <a:r>
              <a:t>💰 POTENTIAL REVENUE STREAMS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ontserrat"/>
              </a:defRPr>
            </a:pPr>
            <a:r>
              <a:t>Multi-Tier Commercialization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Open-Core Community Edition: Free open-source single-node sandbox to build developer and researcher mindshare.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Enterprise SaaS / Managed Cloud: Multi-tenant orchestration, managed AWS/GCP enclaves, SSO/RBAC ($1,500 – $10,000/mo).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Compliance &amp; Audit Attestation Bundles: Automated cryptographically certified compliance reports for regulators ($5,000/audit).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Custom Profiles &amp; Support SLAs: Tailored seccomp profiles, dedicated on-prem hardware deployment, and 24/7 SecOps support.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6217920"/>
            <a:ext cx="7955279" cy="3383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228600"/>
          <a:lstStyle/>
          <a:p>
            <a:pPr algn="ctr">
              <a:spcAft>
                <a:spcPts val="200"/>
              </a:spcAft>
              <a:defRPr sz="1050" b="1">
                <a:solidFill>
                  <a:srgbClr val="E11D48"/>
                </a:solidFill>
                <a:latin typeface="IBM Plex Sans"/>
              </a:defRPr>
            </a:pPr>
            <a:r>
              <a:t>🛡️ DEFENSIBILITY &amp; EXPECTED GROWTH</a:t>
            </a:r>
          </a:p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  <a:latin typeface="Montserrat"/>
              </a:defRPr>
            </a:pPr>
            <a:r>
              <a:t>Sustainable Competitive Moat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Infrastructure-Level Moat: Most safety tools are prompt filters; Bayora provides infrastructure-level zero-trust sandboxing.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Mathematical Non-Repudiation: Blockchain-style SHA-256 hash chaining creates permanent, tamper-evident audit proof.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Network Effects: Standardization on Bayora's audit format for regulatory compliance creates a strong institutional lock-in.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• Continuous Self-Hardening: Seamless pipeline from red-team adversarial discovery to blue-team seccomp filter generation.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371600"/>
            <a:ext cx="16459200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defRPr sz="3000" b="1">
                <a:solidFill>
                  <a:srgbClr val="0F172A"/>
                </a:solidFill>
                <a:latin typeface="Montserrat"/>
              </a:defRPr>
            </a:pPr>
            <a:r>
              <a:t>FUTURE SCOPE &amp; PRODUCT ROADMAP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IBM Plex Sans"/>
              </a:defRPr>
            </a:pPr>
            <a:r>
              <a:t>From Single-Node Prototype to Distributed Zero-Trust AI Defense Fabric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914400" y="2468880"/>
            <a:ext cx="384048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400"/>
              </a:spcAft>
              <a:defRPr sz="1050" b="1">
                <a:solidFill>
                  <a:srgbClr val="0F172A"/>
                </a:solidFill>
                <a:latin typeface="IBM Plex Sans"/>
              </a:defRPr>
            </a:pPr>
            <a:r>
              <a:t>PHASE 1 • NEAR-TERM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Montserrat"/>
              </a:defRPr>
            </a:pPr>
            <a:r>
              <a:t>Autonomous Multi-Agent Red-Teaming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Agent-on-Agent Sandbox: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Dynamic sandboxing where autonomous attacker agents interact with defender agents under controlled isolation.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Tool-Call Virtualization: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Containment wrappers for agentic function calling (file I/O, SQL, bash).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Dynamic Secret Injection: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Ephemeral canary tokens per evaluation round to detect subtle inference leakage.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Live Round-Trip Verification: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Real-time automated scoring of agent safety alignment under continuous red-team probing.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468880"/>
            <a:ext cx="384048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400"/>
              </a:spcAft>
              <a:defRPr sz="1050" b="1">
                <a:solidFill>
                  <a:srgbClr val="2563EB"/>
                </a:solidFill>
                <a:latin typeface="IBM Plex Sans"/>
              </a:defRPr>
            </a:pPr>
            <a:r>
              <a:t>PHASE 2 • MEDIUM-TERM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Montserrat"/>
              </a:defRPr>
            </a:pPr>
            <a:r>
              <a:t>Confidential Computing &amp; Merkle Logs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Hardware TEE Enclaves: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Run the LLM gateway inside AWS Nitro Enclaves / Intel SGX for cryptographic remote attestation.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Distributed Merkle Trees: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Transition from single-writer JSONL to append-only Merkle tree logs for horizontal scaling.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Side-Channel Mitigation: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Algorithmic mitigation and rate-limiting for KV-cache micro-architectural timing side channels.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Multi-Model Routing: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Dynamic load balancing across multiple local and remote LLM inference targets.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26880" y="2468880"/>
            <a:ext cx="384048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400"/>
              </a:spcAft>
              <a:defRPr sz="1050" b="1">
                <a:solidFill>
                  <a:srgbClr val="0284C7"/>
                </a:solidFill>
                <a:latin typeface="IBM Plex Sans"/>
              </a:defRPr>
            </a:pPr>
            <a:r>
              <a:t>PHASE 3 • SCALE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Montserrat"/>
              </a:defRPr>
            </a:pPr>
            <a:r>
              <a:t>Enterprise Cloud &amp; Control Plane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Kubernetes Operator: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Helm charts and K8s CRDs for elastic, multi-cluster tenant pod orchestration.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Interactive Web Dashboard: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Real-time visual monitoring of Red vs. Blue battle telemetry, live logs, and IOC alerts.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Enterprise Security: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SAML/OIDC SSO, Granular RBAC, and Vault/KMS secrets integration.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Automated Compliance Bundles: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One-click export of cryptographically signed audit binders for NIST &amp; EU AI Act compliance.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533120" y="2468880"/>
            <a:ext cx="384048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320040"/>
          <a:lstStyle/>
          <a:p>
            <a:pPr algn="ctr">
              <a:spcAft>
                <a:spcPts val="400"/>
              </a:spcAft>
              <a:defRPr sz="1050" b="1">
                <a:solidFill>
                  <a:srgbClr val="10B981"/>
                </a:solidFill>
                <a:latin typeface="IBM Plex Sans"/>
              </a:defRPr>
            </a:pPr>
            <a:r>
              <a:t>PHASE 4 • FRONTIER</a:t>
            </a:r>
          </a:p>
          <a:p>
            <a:pPr>
              <a:spcAft>
                <a:spcPts val="1200"/>
              </a:spcAft>
              <a:defRPr sz="1600" b="1">
                <a:solidFill>
                  <a:srgbClr val="0F172A"/>
                </a:solidFill>
                <a:latin typeface="Montserrat"/>
              </a:defRPr>
            </a:pPr>
            <a:r>
              <a:t>Autonomous Defense Synthesis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Closed-Loop Defense: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Blue-team engine automatically synthesizes seccomp syscall filters and guardrails in response to red-team zero-day breaches.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Formal Verification: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Automated mathematical verification of network isolation invariants and protocol properties.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Self-Hardening AI Agents: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Continuous adversarial training pipeline hardening model checkpoints against newly discovered exploits.</a:t>
            </a:r>
          </a:p>
          <a:p>
            <a:pPr>
              <a:defRPr sz="1100" b="1">
                <a:solidFill>
                  <a:srgbClr val="0F172A"/>
                </a:solidFill>
                <a:latin typeface="IBM Plex Sans"/>
              </a:defRPr>
            </a:pPr>
            <a:r>
              <a:t>• Federated Safety Network:</a:t>
            </a:r>
          </a:p>
          <a:p>
            <a:pPr>
              <a:spcAft>
                <a:spcPts val="800"/>
              </a:spcAft>
              <a:defRPr sz="1000">
                <a:solidFill>
                  <a:srgbClr val="334155"/>
                </a:solidFill>
                <a:latin typeface="IBM Plex Sans"/>
              </a:defRPr>
            </a:pPr>
            <a:r>
              <a:t>  Cross-organization privacy-preserving threat intelligence sharing for adversarial AI exploits.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1371600"/>
            <a:ext cx="16459200" cy="1216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  <a:defRPr sz="3000" b="1">
                <a:solidFill>
                  <a:srgbClr val="0F172A"/>
                </a:solidFill>
                <a:latin typeface="Montserrat"/>
              </a:defRPr>
            </a:pPr>
            <a:r>
              <a:t>TECHNICAL VALIDATION &amp; LIVE BENCHMARKS</a:t>
            </a:r>
          </a:p>
          <a:p>
            <a:pPr>
              <a:spcBef>
                <a:spcPts val="400"/>
              </a:spcBef>
              <a:defRPr sz="1400">
                <a:solidFill>
                  <a:srgbClr val="64748B"/>
                </a:solidFill>
                <a:latin typeface="IBM Plex Sans"/>
              </a:defRPr>
            </a:pPr>
            <a:r>
              <a:t>Empirical Evidence: 22/22 Automated Tests Passing, Zero Contamination, Proven Tamper Detection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0"/>
            <a:ext cx="18288000" cy="1205513"/>
            <a:chOff x="0" y="0"/>
            <a:chExt cx="24384000" cy="16073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607312"/>
            </a:xfrm>
            <a:custGeom>
              <a:avLst/>
              <a:gdLst/>
              <a:ahLst/>
              <a:cxnLst/>
              <a:rect r="r" b="b" t="t" l="l"/>
              <a:pathLst>
                <a:path h="1607312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607312"/>
                  </a:lnTo>
                  <a:lnTo>
                    <a:pt x="0" y="1607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2"/>
              </a:stretch>
            </a:blipFill>
          </p:spPr>
        </p:sp>
      </p:grpSp>
      <p:sp>
        <p:nvSpPr>
          <p:cNvPr id="6" name="Rounded Rectangle 5"/>
          <p:cNvSpPr/>
          <p:nvPr/>
        </p:nvSpPr>
        <p:spPr>
          <a:xfrm>
            <a:off x="91440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10B981"/>
                </a:solidFill>
                <a:latin typeface="IBM Plex Sans"/>
              </a:defRPr>
            </a:pPr>
            <a:r>
              <a:t>✅ AUTOMATED CI / CD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22/22 Tests Passing ('run_tests.py')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audit/ Module (5 Tests):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Genesis block invariant (0*64), sequential digest chaining, 50-thread concurrent file write stress testing ('test_concurrency.py').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gateway/ Module (8 Tests):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Token auth, cross-tenant credential mismatch blocking, latency tracking, pre-response audit commitment.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isolation/ Module (5 Tests):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Seccomp syscall drop assertion (ptrace, bpf), multi-bridge network isolation assertion, unauthorized connection drops.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attacks/ Module (4 Tests):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Payload schema compliance, indicator of compromise (IOC) detection, and automated report generation.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E11D48"/>
                </a:solidFill>
                <a:latin typeface="IBM Plex Sans"/>
              </a:defRPr>
            </a:pPr>
            <a:r>
              <a:t>🔍 MATHEMATICAL PROOF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Deliberate Tamper Detection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Deliberate Tamper Test: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Intentionally modified 1 byte in historical block #0 ('status': 'ok' -&gt; 'tampered').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Instant Detection: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'audit/verify.py' caught corruption instantly: '[FAIL] Tampering Detected at Block #0: Hash mismatch!'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Cryptographic Non-Repudiation: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Modifying historical entries breaks all downstream SHA-256 pointers, making undetected log forgery mathematically impossible.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Sub-Millisecond Overhead: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Pre-response SHA-256 block commitment adds &lt;0.5ms latency per request under concurrent 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252960" y="2468880"/>
            <a:ext cx="5120640" cy="71323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320040" tIns="320040"/>
          <a:lstStyle/>
          <a:p>
            <a:pPr algn="ctr">
              <a:spcAft>
                <a:spcPts val="400"/>
              </a:spcAft>
              <a:defRPr sz="1100" b="1">
                <a:solidFill>
                  <a:srgbClr val="2563EB"/>
                </a:solidFill>
                <a:latin typeface="IBM Plex Sans"/>
              </a:defRPr>
            </a:pPr>
            <a:r>
              <a:t>⚔️ LIVE HARNESS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Montserrat"/>
              </a:defRPr>
            </a:pPr>
            <a:r>
              <a:t>Adversarial Attack &amp; Zero Bleed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AdvBench &amp; JailbreakBench: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10 curated adversarial payloads evaluated against 'qwen2.5-coder:3b' via 'attacks/run-attack.py'.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Cross-Session Contamination Test: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Blue team injected canary token 'BLUE_GUARD_SECRET_CANARY_...'; sequential Red-team probe verified 0.0% state bleeding.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Automated Evaluation Reports: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Produces instant structured Markdown reports ('attacks/attack-report.md') with latency, IOCs, and containment status.</a:t>
            </a:r>
          </a:p>
          <a:p>
            <a:pPr>
              <a:defRPr sz="1150" b="1">
                <a:solidFill>
                  <a:srgbClr val="0F172A"/>
                </a:solidFill>
                <a:latin typeface="IBM Plex Sans"/>
              </a:defRPr>
            </a:pPr>
            <a:r>
              <a:t>• Zero Payload Leakage:</a:t>
            </a:r>
          </a:p>
          <a:p>
            <a:pPr>
              <a:spcAft>
                <a:spcPts val="800"/>
              </a:spcAft>
              <a:defRPr sz="1050">
                <a:solidFill>
                  <a:srgbClr val="334155"/>
                </a:solidFill>
                <a:latin typeface="IBM Plex Sans"/>
              </a:defRPr>
            </a:pPr>
            <a:r>
              <a:t>  Prometheus-style telemetry on '/metrics' exposes operational counts without ever leaking raw prompt or completion texts.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39139" y="5736498"/>
            <a:ext cx="8898074" cy="2077107"/>
          </a:xfrm>
          <a:custGeom>
            <a:avLst/>
            <a:gdLst/>
            <a:ahLst/>
            <a:cxnLst/>
            <a:rect r="r" b="b" t="t" l="l"/>
            <a:pathLst>
              <a:path h="2077107" w="8898074">
                <a:moveTo>
                  <a:pt x="0" y="0"/>
                </a:moveTo>
                <a:lnTo>
                  <a:pt x="8898074" y="0"/>
                </a:lnTo>
                <a:lnTo>
                  <a:pt x="8898074" y="2077107"/>
                </a:lnTo>
                <a:lnTo>
                  <a:pt x="0" y="20771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54005" y="5409219"/>
            <a:ext cx="12268352" cy="1305430"/>
          </a:xfrm>
          <a:custGeom>
            <a:avLst/>
            <a:gdLst/>
            <a:ahLst/>
            <a:cxnLst/>
            <a:rect r="r" b="b" t="t" l="l"/>
            <a:pathLst>
              <a:path h="1305430" w="12268352">
                <a:moveTo>
                  <a:pt x="0" y="0"/>
                </a:moveTo>
                <a:lnTo>
                  <a:pt x="12268352" y="0"/>
                </a:lnTo>
                <a:lnTo>
                  <a:pt x="12268352" y="1305430"/>
                </a:lnTo>
                <a:lnTo>
                  <a:pt x="0" y="130543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-348060">
            <a:off x="2043358" y="6801769"/>
            <a:ext cx="12071718" cy="957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197"/>
              </a:lnSpc>
            </a:pPr>
            <a:r>
              <a:rPr lang="en-US" sz="29088">
                <a:solidFill>
                  <a:srgbClr val="1D1D1F"/>
                </a:solidFill>
                <a:latin typeface="Caveat"/>
                <a:ea typeface="Caveat"/>
                <a:cs typeface="Caveat"/>
                <a:sym typeface="Caveat"/>
              </a:rPr>
              <a:t>Thank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814839" y="8174126"/>
            <a:ext cx="11687699" cy="1010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10"/>
              </a:lnSpc>
            </a:pPr>
            <a:r>
              <a:rPr lang="en-US" sz="30167">
                <a:solidFill>
                  <a:srgbClr val="1D1D1F"/>
                </a:solidFill>
                <a:latin typeface="Caveat"/>
                <a:ea typeface="Caveat"/>
                <a:cs typeface="Caveat"/>
                <a:sym typeface="Caveat"/>
              </a:rPr>
              <a:t>you!</a:t>
            </a:r>
          </a:p>
        </p:txBody>
      </p:sp>
      <p:grpSp>
        <p:nvGrpSpPr>
          <p:cNvPr name="Group 6" id="6"/>
          <p:cNvGrpSpPr/>
          <p:nvPr/>
        </p:nvGrpSpPr>
        <p:grpSpPr>
          <a:xfrm rot="-5400000">
            <a:off x="7123100" y="-7111203"/>
            <a:ext cx="4088378" cy="18326624"/>
            <a:chOff x="0" y="0"/>
            <a:chExt cx="5451170" cy="244354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51221" cy="24435563"/>
            </a:xfrm>
            <a:custGeom>
              <a:avLst/>
              <a:gdLst/>
              <a:ahLst/>
              <a:cxnLst/>
              <a:rect r="r" b="b" t="t" l="l"/>
              <a:pathLst>
                <a:path h="24435563" w="5451221">
                  <a:moveTo>
                    <a:pt x="0" y="0"/>
                  </a:moveTo>
                  <a:lnTo>
                    <a:pt x="5451221" y="0"/>
                  </a:lnTo>
                  <a:lnTo>
                    <a:pt x="5451221" y="24435563"/>
                  </a:lnTo>
                  <a:lnTo>
                    <a:pt x="0" y="244355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87248" t="0" r="-36879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318678" y="296228"/>
            <a:ext cx="7240343" cy="791928"/>
            <a:chOff x="0" y="0"/>
            <a:chExt cx="9653791" cy="10559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3778" cy="1055878"/>
            </a:xfrm>
            <a:custGeom>
              <a:avLst/>
              <a:gdLst/>
              <a:ahLst/>
              <a:cxnLst/>
              <a:rect r="r" b="b" t="t" l="l"/>
              <a:pathLst>
                <a:path h="1055878" w="9653778">
                  <a:moveTo>
                    <a:pt x="0" y="0"/>
                  </a:moveTo>
                  <a:lnTo>
                    <a:pt x="9653778" y="0"/>
                  </a:lnTo>
                  <a:lnTo>
                    <a:pt x="9653778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-2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20574" y="296228"/>
            <a:ext cx="5599605" cy="791928"/>
            <a:chOff x="0" y="0"/>
            <a:chExt cx="7466140" cy="105590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466076" cy="1055878"/>
            </a:xfrm>
            <a:custGeom>
              <a:avLst/>
              <a:gdLst/>
              <a:ahLst/>
              <a:cxnLst/>
              <a:rect r="r" b="b" t="t" l="l"/>
              <a:pathLst>
                <a:path h="1055878" w="7466076">
                  <a:moveTo>
                    <a:pt x="0" y="0"/>
                  </a:moveTo>
                  <a:lnTo>
                    <a:pt x="7466076" y="0"/>
                  </a:lnTo>
                  <a:lnTo>
                    <a:pt x="7466076" y="1055878"/>
                  </a:lnTo>
                  <a:lnTo>
                    <a:pt x="0" y="1055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-1" b="-2"/>
              </a:stretch>
            </a:blipFill>
          </p:spPr>
        </p:sp>
      </p:grpSp>
      <p:sp>
        <p:nvSpPr>
          <p:cNvPr id="12" name="Rounded Rectangle 11"/>
          <p:cNvSpPr/>
          <p:nvPr/>
        </p:nvSpPr>
        <p:spPr>
          <a:xfrm>
            <a:off x="914400" y="1097280"/>
            <a:ext cx="1645920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320040"/>
          <a:lstStyle/>
          <a:p>
            <a:pPr algn="ctr">
              <a:spcAft>
                <a:spcPts val="200"/>
              </a:spcAft>
              <a:defRPr sz="2000" b="1">
                <a:solidFill>
                  <a:srgbClr val="0F172A"/>
                </a:solidFill>
                <a:latin typeface="Montserrat"/>
              </a:defRPr>
            </a:pPr>
            <a:r>
              <a:t>BAYORA SANDBOX — SECURE ADVERSARIAL AI TESTING INFRASTRUCTURE</a:t>
            </a:r>
          </a:p>
          <a:p>
            <a:pPr>
              <a:spcAft>
                <a:spcPts val="1200"/>
              </a:spcAft>
              <a:defRPr sz="1300" b="1">
                <a:solidFill>
                  <a:srgbClr val="2563EB"/>
                </a:solidFill>
                <a:latin typeface="IBM Plex Sans"/>
              </a:defRPr>
            </a:pPr>
            <a:r>
              <a:t>Setting the Standard for Verifiable, Zero-Trust AI Safety Evaluation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• 1. Provable Multi-Tenant Isolation: Enforced at network and OS levels with isolated bridge networks, rootless containers, and Linux seccomp drops.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• 2. Cryptographic Non-Repudiation: Pre-response SHA-256 hash chaining guarantees tamper-evident audit trails with independent CLI verification.</a:t>
            </a:r>
          </a:p>
          <a:p>
            <a:pPr>
              <a:spcAft>
                <a:spcPts val="400"/>
              </a:spcAft>
              <a:defRPr sz="1100">
                <a:solidFill>
                  <a:srgbClr val="334155"/>
                </a:solidFill>
                <a:latin typeface="IBM Plex Sans"/>
              </a:defRPr>
            </a:pPr>
            <a:r>
              <a:t>• 3. Production-Ready Verification: 22/22 automated tests passing, sub-millisecond commitment overhead, and 100% containment in live attack evals.</a:t>
            </a:r>
          </a:p>
          <a:p>
            <a:pPr>
              <a:spcBef>
                <a:spcPts val="800"/>
              </a:spcBef>
              <a:defRPr sz="1200" b="1">
                <a:solidFill>
                  <a:srgbClr val="10B981"/>
                </a:solidFill>
                <a:latin typeface="IBM Plex Sans"/>
              </a:defRPr>
            </a:pPr>
            <a:r>
              <a:t>⚡ Quickstart: docker compose up --build &amp;&amp; python run_tests.py  |  Open for Q&amp;A and Live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DAHWFR9oPsQ</dc:identifier>
  <dcterms:modified xsi:type="dcterms:W3CDTF">2011-08-01T06:04:30Z</dcterms:modified>
  <cp:revision>1</cp:revision>
  <dc:title>6aac310a03938_ppt_template.pptx</dc:title>
</cp:coreProperties>
</file>